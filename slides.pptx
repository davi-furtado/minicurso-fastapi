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13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3232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Boas-vindas. Apresente-se e apresente o Davi. Explique o formato: é um minicurso prático, vamos construir uma API do zero e ao final todo mundo terá uma API de tarefas funcionando.
Pergunta de aquecimento: 'Quem já usou um app que mostra dados em tempo real (clima, cotação, delivery)? Como o app consegue esses dados?' Deixe 2-3 respostas e use como gancho pro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mapa do minicurso. Ponto importante: vamos começar CONSUMINDO uma API pronta antes de criar a nossa. Assim os alunos entendem o lado do cliente primeiro, e depois o lado do servidor faz mais sentido.
Deixe claro que o resultado final é concreto: uma API de tarefas (to-do list) que eles mesmos vão programar.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Comece pela definição, mas vá rápido para a analogia do restaurante, que é o que fixa na cabeça dos alunos.
Você (cliente) NÃO entra na cozinha. Você faz um pedido seguindo o cardápio (as regras). O garçom (API) leva até a cozinha (servidor) e traz a resposta. A cozinha pode mudar por dentro, mas o cardápio continua o mesmo — essa é a grande vantagem de uma API.
Exemplos reais que eles conhecem: app de clima, Pix, login com Google, mapa do Uber.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Defina os dois papéis. Enfatize que 'cliente' e 'servidor' são PAPÉIS, não máquinas: o mesmo computador pode ser os dois (é o que faremos no minicurso, tudo em localhost).
O ciclo é sempre: cliente envia REQUISIÇÃO → servidor devolve RESPOSTA. Sem pedido, sem resposta.
Já plante a sementinha: a requisição tem um método (GET) e um caminho (/tarefas); a resposta tem um status (200) e um corpo (JSON). Vamos destrinchar isso nos próximos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a 'peça-chave' de vocabulário. Aponte cada parte da URL colorida.
localhost significa 'este mesmo computador'. A porta (8000) é como se fosse o número do apartamento: o computador pode ter vários servidores rodando, cada um em uma porta.
Endpoint: cada combinação método + caminho é um endpoint. GET /tarefas e POST /tarefas são endpoints DIFERENTES, mesmo com o mesmo caminho.
Pergunta rápida para a turma: 'Qual o endpoint que eu usaria pra pedir a tarefa de número 5?' (GET /tarefas/5).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método é o VERBO da requisição: diz ao servidor qual ação você quer.
GET = ler (não muda nada no servidor). POST = criar algo novo. PATCH = alterar parcialmente algo que já existe. DELETE = apagar.
Termine com o CRUD: o acrônimo que resume o que quase toda API faz. Guardem essa sigla: vamos implementar os quatro.
Se alguém perguntar sobre PUT: existe também, e substitui o recurso INTEIRO (PATCH altera só os campos enviados). No minicurso usamos PATCH.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JSON é praticamente o dicionário e a lista do Python que eles já conhecem. Objeto {} ≈ dict, lista [] ≈ list.
Aponte no exemplo à direita: é uma LISTA [ ] com UM objeto { }, e esse objeto tem três campos: id (número), titulo (texto) e concluida (booleano).
Cuidado comum: em JSON o booleano é 'false' minúsculo; em Python é 'False'. O FastAPI converte automaticamente entre os dois.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status é o 'recado' que o servidor dá sobre o resultado do pedido, antes mesmo de olhar o conteúdo.
Dica de memorização: 2xx = deu certo; 4xx = VOCÊ (cliente) errou o pedido; 5xx = o SERVIDOR quebrou.
Ponto sutil (está no README): se GET /tarefas não tiver nenhuma tarefa, retornamos [] com 200 OK, e NÃO 404. A requisição foi processada corretamente, a coleção só está vazia. 404 é para quando o recurso específico não existe (ex.: GET /tarefas/999).
Pergunta para a turma: 'Qual status usar após criar uma tarefa?' (201).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PRÁTICA 1. Rode o examplo.py ao vivo: python examplo.py, digite USD e aperte Enter para usar a data de ontem.
Mostre no terminal: o Status HTTP (200), o JSON bruto e os valores extraídos (compra e venda).
Conceitos para destacar no código: (1) get(url) faz a requisição; (2) response.status_code traz o status; (3) response.is_success é True para 2xx; (4) response.json() converte o corpo em dict Python.
Experimento didático: digite uma moeda inválida (ex.: XYZ) e mostre o erro. É uma ótima oportunidade de ver um status 4xx na prática.
Transição: 'Agora vamos fazer o contrário: em vez de CONSUMIR uma API, vamos CRIAR a nossa.'
Obs.: o README cita a tabela FIPE, mas o examplo.py do repositório usa o câmbio. Confira qual dos dois você quer mostrar.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FastAPI: um framework Python para construir APIs. 'Framework' = um conjunto de ferramentas prontas, para você não começar do zero.
Os quatro pontos: (1) Type hints: quando escrevemos 'id: int', o FastAPI entende que aquele parâmetro precisa ser inteiro e já valida sozinho; (2) Rápido tanto na execução quanto no desenvolvimento; (3) Documentação automática: vamos ver ao vivo, é o momento 'uau' do minicurso; (4) Validação de dados.
Ele roda em cima do Uvicorn, o servidor que efetivamente recebe as conexões na rede.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PRÁTICA 2. Abra o main.py no VS Code e escreva junto com a turma (ele vem com comentários-guia com o passo a passo do que preencher).
Passos: (1) importar FastAPI; (2) criar 'app = FastAPI()'; (3) criar a rota raiz com o decorator @app.get('/'); (4) rodar 'fastapi dev main.py' no terminal.
Explique o DECORATOR: a linha com @ 'pendura' a função em um método + caminho. É a ligação entre 'alguém acessou GET /' e 'esta função deve rodar'.
Abra http://localhost:8000 no navegador e mostre {"mensagem": "API funcionando!"}. O return de um dict virou JSON sem esforço.
O modo 'dev' recarrega o servidor sozinho quando você salva o arquivo. Ótimo para o minicurso.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tópico que mais confunde iniciantes, então vá com calma.
Origem = protocolo + host + PORTA. localhost:5173 e localhost:8000 são origens diferentes. O NAVEGADOR (só ele!) bloqueia, por segurança, um site de pedir dados a outra origem, a menos que a API diga 'pode'.
Como a API diz 'pode': o CORSMiddleware. allow_origins=['*'] libera qualquer origem; em produção, liste só as origens confiáveis (ex.: ['http://localhost:5173']).
ALERTA (está no README): CORS NÃO é autenticação. Ele não impede que alguém acesse a API com curl, Python ou Postman. Só protege o usuário dentro do navegador.
No minicurso usamos '*' só para facilitar os testes. Se a turma não for usar um frontend hoje, este slide pode ser rápido.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 decisão de projeto: um arquivo JSON no lugar de um banco de dados. Simples, sem instalar nada. Em projetos reais usaríamos PostgreSQL, etc. (fica para os próximos passos).
carregar_tarefas: abre o arquivo, converte o JSON em lista Python (load). Se o arquivo não existir ou estiver corrompido, cai no except e devolve lista vazia, e a API continua funcionando.
salvar_tarefas: abre em modo 'w' (escrita) e grava a lista (dump). indent=2 deixa o arquivo legível; ensure_ascii=False preserva acentos (senão 'Estudar' com acento viraria \u00e9 etc.).
Todas as rotas seguem o padrão: CARREGAR → modificar → SALVAR. Repita isso em voz alta, porque é o esqueleto do CRUD.
Estas duas funções estão marcadas como TODO no main.py (com comentários-guia). Peça para os alunos completarem.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o MAPA da parte principal. Deixe-o na tela como referência enquanto implementam.
Cinco endpoints, quatro métodos. Repare: 3 deles usam o {id} na URL (buscar, atualizar, excluir), porque agem sobre UMA tarefa específica.
A coluna de status mostra o que cada um devolve. Os que têm '/ 404' devolvem 404 quando o id não existe.
Estratégia sugerida: implementar → testar no Swagger (/docs) → passar ao próximo. Assim os alunos têm vitórias rápidas.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LISTAR é o endpoint mais simples: só devolve o que carregar_tarefas() retorna. Se não houver tarefas, devolve [] com status 200 (não é erro).
BUSCAR: percorre a lista procurando o id. Se acha, devolve a tarefa. Se o for termina sem achar nada, lança HTTPException com 404.
Demonstração do valor das anotações de tipo: no Swagger, tente GET /tarefas/abc. O FastAPI responde 422 (erro de validação) sozinho, sem você escrever nada, porque 'abc' não é int.
'raise' interrompe a função imediatamente e a resposta de erro vai para o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POST cria um recurso NOVO. Por isso o status de sucesso é 201 Created, e não 200.
Os parâmetros 'titulo: str' e 'concluida: bool = False' chegam pela URL (query string) neste minicurso: POST /tarefas?titulo=Estudar. O '= False' torna 'concluida' opcional (valor padrão). Já 'titulo' é obrigatório: se faltar, o FastAPI devolve 422.
O ID é gerado NO SERVIDOR, não pelo cliente: max(ids) + 1. O 'default=0' evita erro quando a lista está vazia (a primeira tarefa vira id 1).
Siga os 4 passos do painel: carregar → novo id → montar → salvar. Esse padrão vale para todas as rotas que alteram dados.
Teste no Swagger: crie 2 tarefas e mostre o arquivo tarefas.json mudando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PATCH: atualização PARCIAL. Os dois parâmetros têm valor padrão None. Só alteramos o que o cliente realmente enviou (o teste 'is not None'). Assim dá para marcar como concluída sem reenviar o título.
Usamos enumerate para ter o índice; no PATCH a gente só precisa do item, mas o padrão é o mesmo do DELETE.
DELETE: acha a tarefa, remove da lista com pop(i), salva. Status 204 No Content: deu certo, mas não há corpo de resposta (o 'return' vazio).
Nos dois, se o loop termina sem achar o id, cai no raise HTTPException 404.
Aviso: o código acima é uma versão condensada para caber no slide. Confira com o gabarito/main.py do repositório se quiser mostrar exatamente a versão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DEMONSTRAÇÃO AO VIVO. Com o servidor rodando, abra http://localhost:8000/docs.
Mostre que o FastAPI leu suas rotas, métodos, parâmetros e status e montou a documentação sozinho. Clique em um endpoint → 'Try it out' → 'Execute'. A resposta aparece na hora, com o status e o JSON.
Isso substitui, na prática, ferramentas como o Postman para testes rápidos.
Abra também /redoc para mostrar a segunda interface.
Sugestão: faça a turma criar uma tarefa pelo Swagger e depois listar com GET. O ciclo completo em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PRÁTICA 4. Precisa de DOIS terminais abertos: o primeiro com a API rodando (fastapi dev main.py) e o segundo executando o cliente (python tarefas.py).
Se a API estiver desligada, o cliente não consegue conectar. Ótima chance de mostrar o que acontece quando o servidor cai.
Peça para a turma testar as cinco operações e observar o arquivo tarefas.json sendo alterado em tempo real.
Este é o ponto em que a ficha cai: o tarefas.py faz requisições HTTP exatamente como o examplo.py fez com a BrasilAPI. Só que agora a API é DELES.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mapa dos arquivos para os alunos não se perderem.
O main.py na raiz é o ESQUELETO com comentários-guia (eles vão preencher). O gabarito/main.py tem a API completa, para consulta caso alguém trave, mas incentive a tentarem antes de olhar.
Pré-requisitos (se ainda não estiverem prontos): Python, VS Code com a extensão Python, e instalar as dependências com 'pip install .' (o pyproject.toml lista o fastapi[standard]).
Obs.: o README lista um requirements.txt, mas o repositório usa pyproject.toml. Vale confirmar o comando de instalação antes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Recapitule em voz alta, puxando dos alunos: 'O que é um endpoint?', 'Qual status uso ao criar?', 'Qual método uso para excluir?'.
Feche reforçando: em uma tarde, eles saíram de 'o que é uma API?' para uma API funcionando com CRUD completo, documentação automática e persistência.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o minicurso é a base. O que vem depois são camadas em cima dessa mesma ideia: banco de dados de verdade no lugar do JSON, autenticação (para resolver o que o CORS NÃO resolve), Docker e deploy para colocar no ar.
Indique a documentação oficial do FastAPI, que é excelente e em português.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agradecendo e abra para perguntas. Deixe o link do repositório na tela: todo o material (esqueleto, gabarito, exemplos) está lá para eles revisitarem em casa.
Convide-os a evoluir o projeto: adicionar um campo 'prioridade' às tarefas, ou criar um endpoint de busca por título.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MINICURSO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3317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7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Construindo uma API REST na prática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 Reis Furtado  ·  Gabriel de Almeida Dias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20840" y="1143000"/>
            <a:ext cx="1737360" cy="1737360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645920"/>
            <a:ext cx="731520" cy="731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18120" y="2651760"/>
            <a:ext cx="731520" cy="731520"/>
          </a:xfrm>
          <a:prstGeom prst="ellipse">
            <a:avLst/>
          </a:prstGeom>
          <a:solidFill>
            <a:srgbClr val="12403F"/>
          </a:solidFill>
          <a:ln w="19050">
            <a:solidFill>
              <a:srgbClr val="5EEAD4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2807208"/>
            <a:ext cx="420624" cy="420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fazer hoje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Entender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889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uma API, HTTP e JSON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155448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1737360"/>
            <a:ext cx="502920" cy="502920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88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377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Consumir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27889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uma API que já existe (BrasilAPI)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737360"/>
            <a:ext cx="502920" cy="502920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377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7889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própria API com FastAPI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20840" y="155448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737360"/>
            <a:ext cx="502920" cy="502920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377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7889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e cliente de terminal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final: uma API de tarefas (CRUD completo) que salva os dados em um arquivo JSON.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Minicurso FastAPI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uma API?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8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Application Programming Interface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conjunto de regras e formatos que permite que sistemas diferentes conversem entre si.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907792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026664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Analogia: o restaurante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4747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(cliente) faz o pedido ao garçom (API), que leva à cozinha (servidor) e traz o prato (resposta).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0" y="137160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57276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06440" y="1371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/ Site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537960" y="212140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⇅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029200" y="24231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262432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806440" y="24231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537960" y="317296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⇅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5029200" y="34747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0B2B2B"/>
          </a:solidFill>
          <a:ln w="12700">
            <a:solidFill>
              <a:srgbClr val="0B2B2B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3675888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06440" y="34747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 / Dados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Minicurso FastAPI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Cliente, servidor, requisição e resposta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17428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974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pede. Navegador, app, script Python, Postman.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141732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1600200"/>
            <a:ext cx="548640" cy="548640"/>
          </a:xfrm>
          <a:prstGeom prst="ellipse">
            <a:avLst/>
          </a:prstGeom>
          <a:solidFill>
            <a:srgbClr val="0B2B2B"/>
          </a:solidFill>
          <a:ln w="12700">
            <a:solidFill>
              <a:srgbClr val="0B2B2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046" y="17428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62940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629400" y="26974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responde. Processa o pedido e devolve dados.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880360" y="2011680"/>
            <a:ext cx="3383280" cy="0"/>
          </a:xfrm>
          <a:prstGeom prst="line">
            <a:avLst/>
          </a:prstGeom>
          <a:noFill/>
          <a:ln w="31750">
            <a:solidFill>
              <a:srgbClr val="009688"/>
            </a:solidFill>
            <a:prstDash val="solid"/>
            <a:tailEnd type="triangle"/>
          </a:ln>
        </p:spPr>
      </p:sp>
      <p:sp>
        <p:nvSpPr>
          <p:cNvPr id="15" name="Text 11"/>
          <p:cNvSpPr txBox="1"/>
          <p:nvPr/>
        </p:nvSpPr>
        <p:spPr>
          <a:xfrm>
            <a:off x="2880360" y="16459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6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REQUISIÇÃO  GET /tarefas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63640" y="2880360"/>
            <a:ext cx="0" cy="0"/>
          </a:xfrm>
          <a:prstGeom prst="line">
            <a:avLst/>
          </a:prstGeom>
          <a:noFill/>
          <a:ln w="31750">
            <a:solidFill>
              <a:srgbClr val="F5B942"/>
            </a:solidFill>
            <a:prstDash val="solid"/>
            <a:tailEnd type="triangle"/>
          </a:ln>
        </p:spPr>
      </p:sp>
      <p:sp>
        <p:nvSpPr>
          <p:cNvPr id="17" name="Text 13"/>
          <p:cNvSpPr txBox="1"/>
          <p:nvPr/>
        </p:nvSpPr>
        <p:spPr>
          <a:xfrm>
            <a:off x="2880360" y="2971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579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RESPOSTA  200 OK + JSON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o cliente começa: </a:t>
            </a:r>
            <a:r>
              <a:rPr lang="en-US" sz="14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servidor nunca responde sem que alguém tenha pedido.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Minicurso FastAPI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Anatomia de uma requisição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0F1F1F"/>
          </a:solidFill>
          <a:ln w="12700">
            <a:solidFill>
              <a:srgbClr val="0F1F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99616"/>
            <a:ext cx="7680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http://localhost:8000/tarefas/1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874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514600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51460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443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918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quero fazer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2377440"/>
            <a:ext cx="1874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0" y="2514600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251460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9443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32918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vamos conversar (HTTP)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377440"/>
            <a:ext cx="1874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514600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251460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localhost:8000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29443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+ porta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32918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está o servidor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20840" y="2377440"/>
            <a:ext cx="1874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0" y="2514600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251460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/tarefas/1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29443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32918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recurso eu quero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= o "endereço" de um recurso da API. É a combinação de método + caminho.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Minicurso FastAPI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HTTP: o verbo do pedido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17904"/>
            <a:ext cx="1280160" cy="365760"/>
          </a:xfrm>
          <a:prstGeom prst="roundRect">
            <a:avLst>
              <a:gd name="adj" fmla="val 17500"/>
            </a:avLst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179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3716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Buscar / ler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37160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tarefas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295144"/>
            <a:ext cx="1280160" cy="365760"/>
          </a:xfrm>
          <a:prstGeom prst="roundRect">
            <a:avLst>
              <a:gd name="adj" fmla="val 175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2951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21488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21488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uma tarefa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072384"/>
            <a:ext cx="1280160" cy="365760"/>
          </a:xfrm>
          <a:prstGeom prst="roundRect">
            <a:avLst>
              <a:gd name="adj" fmla="val 17500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0723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29260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Atualizar (parcial)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29260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como concluída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849624"/>
            <a:ext cx="1280160" cy="365760"/>
          </a:xfrm>
          <a:prstGeom prst="roundRect">
            <a:avLst>
              <a:gd name="adj" fmla="val 175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8496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37033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Excluir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7033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uma tarefa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quatro formam o CRUD: Create, Read, Update, Delete.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Minicurso FastAPI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DADOS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JSON: a língua que a API fala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Object Notation: texto simples, legível por humanos e por máquinas. É o formato padrão de dados em APIs.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Objeto: pares chave → valor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itens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"texto"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sempre com aspas duplas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/ false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3840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Booleanos, em minúsculo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371600"/>
            <a:ext cx="3749040" cy="3017520"/>
          </a:xfrm>
          <a:prstGeom prst="roundRect">
            <a:avLst>
              <a:gd name="adj" fmla="val 2424"/>
            </a:avLst>
          </a:prstGeom>
          <a:solidFill>
            <a:srgbClr val="0F1F1F"/>
          </a:solidFill>
          <a:ln w="12700">
            <a:solidFill>
              <a:srgbClr val="0F1F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14447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resposta de GET /tarefas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1700784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"id": 1,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"titulo": "Estudar",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"concluida": false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Minicurso FastAPI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HTTP: como o servidor responde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96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554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585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 certo. Aqui estão os dados.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46320" y="15544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554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2585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criado com sucesso (POST).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30175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204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3017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Content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216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 certo, mas não há nada a devolver (DELETE).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288036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846320" y="30175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017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Found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7216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recurso não existe.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prática: 2xx = sucesso  ·  4xx = erro do cliente  ·  5xx = erro do servidor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Minicurso FastAPI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1 · EXAMPLO.PY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Consumindo uma API externa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criar a nossa API, vamos usar uma que já existe: a BrasilAPI (cotação de moedas).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937760" cy="2834640"/>
          </a:xfrm>
          <a:prstGeom prst="roundRect">
            <a:avLst>
              <a:gd name="adj" fmla="val 2581"/>
            </a:avLst>
          </a:prstGeom>
          <a:solidFill>
            <a:srgbClr val="0F1F1F"/>
          </a:solidFill>
          <a:ln w="12700">
            <a:solidFill>
              <a:srgbClr val="0F1F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10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examplo.py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66544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httpx import get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"https://brasilapi.com.br/api/cambio/v1"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f"{base}/cotacao/{moeda}/{data}"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get(url)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print("Status HTTP:", response.status_code)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response.is_success: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dados = response.json()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print(dados["moeda"])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715000" y="1737360"/>
            <a:ext cx="2880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52160" y="1920240"/>
            <a:ext cx="457200" cy="457200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203911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46520" y="18470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Requisição GET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216712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uma URL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15000" y="2670048"/>
            <a:ext cx="2880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52160" y="2852928"/>
            <a:ext cx="457200" cy="457200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2971800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46520" y="27797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HTTP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446520" y="3099816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se deu certo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715000" y="3602736"/>
            <a:ext cx="2880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52160" y="3785616"/>
            <a:ext cx="457200" cy="457200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1032" y="3904488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46520" y="37124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.json()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446520" y="403250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vira dict Python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Minicurso FastAPI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FastAPI?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12403F"/>
          </a:solidFill>
          <a:ln w="12700">
            <a:solidFill>
              <a:srgbClr val="1240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177667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45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moderno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0299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7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type hints (id: int) para entender e validar os dados.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12403F"/>
          </a:solidFill>
          <a:ln w="12700">
            <a:solidFill>
              <a:srgbClr val="12403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1645920"/>
            <a:ext cx="502920" cy="502920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079" y="177667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32120" y="1645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Rápido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532120" y="20299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7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desempenho, e rápido de escrever: pouco código.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292608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12403F"/>
          </a:solidFill>
          <a:ln w="12700">
            <a:solidFill>
              <a:srgbClr val="12403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3108960"/>
            <a:ext cx="502920" cy="502920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" y="323971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 automática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34930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7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e ReDoc gerados sozinhos, sem esforço.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663440" y="292608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12403F"/>
          </a:solidFill>
          <a:ln w="12700">
            <a:solidFill>
              <a:srgbClr val="12403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46320" y="3108960"/>
            <a:ext cx="502920" cy="502920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7079" y="323971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3212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532120" y="34930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7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Rejeita dados no formato errado antes de chegar ao seu código.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é um framework: ele traz pronto o que todo projeto de API precisa.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2 · MAIN.PY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Nossa primeira aplicação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846320" cy="2148840"/>
          </a:xfrm>
          <a:prstGeom prst="roundRect">
            <a:avLst>
              <a:gd name="adj" fmla="val 3404"/>
            </a:avLst>
          </a:prstGeom>
          <a:solidFill>
            <a:srgbClr val="0F1F1F"/>
          </a:solidFill>
          <a:ln w="12700">
            <a:solidFill>
              <a:srgbClr val="0F1F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4475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00784"/>
            <a:ext cx="4480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inicio():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{"mensagem":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"API funcionando!"}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0F1F1F"/>
          </a:solidFill>
          <a:ln w="12700">
            <a:solidFill>
              <a:srgbClr val="0F1F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83133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dev main.py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0" y="1371600"/>
            <a:ext cx="2926080" cy="2971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852160" y="1481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Lendo o código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874520"/>
            <a:ext cx="2606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96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FastAPI()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a aplicação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096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@app.get("/")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decorator: liga o método GET e o caminho / à função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096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inicio()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quando alguém acessa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096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{…}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JSON automaticamente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Minicurso FastAPI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CORS: quando o navegador barra o pedido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localhost:5173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0" y="14173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B2B2B"/>
          </a:solidFill>
          <a:ln w="12700">
            <a:solidFill>
              <a:srgbClr val="0B2B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417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localhost:8000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88920" y="1874520"/>
            <a:ext cx="1737360" cy="0"/>
          </a:xfrm>
          <a:prstGeom prst="line">
            <a:avLst/>
          </a:prstGeom>
          <a:noFill/>
          <a:ln w="31750">
            <a:solidFill>
              <a:srgbClr val="E5484D"/>
            </a:solidFill>
            <a:prstDash val="dash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788920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/tarefas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bloqueado?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5146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Portas diferentes = origens diferentes, mesmo no mesmo computador. Por padrão o navegador bloqueia; a API precisa autorizar.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6217920" cy="1600200"/>
          </a:xfrm>
          <a:prstGeom prst="roundRect">
            <a:avLst>
              <a:gd name="adj" fmla="val 4571"/>
            </a:avLst>
          </a:prstGeom>
          <a:solidFill>
            <a:srgbClr val="0F1F1F"/>
          </a:solidFill>
          <a:ln w="12700">
            <a:solidFill>
              <a:srgbClr val="0F1F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236976"/>
            <a:ext cx="58521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fastapi.middleware.cors import CORSMiddleware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app.add_middleware(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CORSMiddleware,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allow_origins=["*"],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allow_methods=["*"],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allow_headers=["*"],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1417320"/>
            <a:ext cx="1600200" cy="3291840"/>
          </a:xfrm>
          <a:prstGeom prst="roundRect">
            <a:avLst>
              <a:gd name="adj" fmla="val 4571"/>
            </a:avLst>
          </a:prstGeom>
          <a:solidFill>
            <a:srgbClr val="FFF4E0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69480" y="1600200"/>
            <a:ext cx="457200" cy="45720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1719072"/>
            <a:ext cx="219456" cy="21945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086600" y="21945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CORS não é autenticação!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086600" y="297180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controla o navegador. curl, Python e Postman ignoram o CORS.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Minicurso FastAPI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guardamos as tarefas?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manter simples, usamos um arquivo tarefas.json como "banco de dados". Os dados sobrevivem ao reiniciar o servidor.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023360" cy="2606040"/>
          </a:xfrm>
          <a:prstGeom prst="roundRect">
            <a:avLst>
              <a:gd name="adj" fmla="val 2807"/>
            </a:avLst>
          </a:prstGeom>
          <a:solidFill>
            <a:srgbClr val="0F1F1F"/>
          </a:solidFill>
          <a:ln w="12700">
            <a:solidFill>
              <a:srgbClr val="0F1F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93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49424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json import load, JSONDecodeError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carregar_tarefas():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open(LOCAL_JSON, "r",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encoding="utf-8") as f: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load(f)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(FileNotFoundError,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JSONDecodeError):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[]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0F1F1F"/>
          </a:solidFill>
          <a:ln w="12700">
            <a:solidFill>
              <a:srgbClr val="0F1F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9933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salvar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249424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json import dump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salvar_tarefas(tarefas):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open(LOCAL_JSON, "w",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encoding="utf-8") as f: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dump(tarefas, f, indent=2,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ensure_ascii=False)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374904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E6F6F3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92040" y="37490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arquivo ou JSON quebrado? </a:t>
            </a:r>
            <a:r>
              <a:rPr lang="en-US" sz="12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devolvemos [] em vez de dar erro.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Minicurso FastAPI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CRUD da nossa API de tarefas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728216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72821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16459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/tarefas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16459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todas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164592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19456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276856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2768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219456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/tarefas/{id}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21945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uma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19456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/ 404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74320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2825496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28254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286000" y="27432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/tarefas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27432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27432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29184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" y="3374136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33741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286000" y="32918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/tarefas/{id}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0" y="32918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32918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/ 404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384048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5800" y="3922776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39227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286000" y="38404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/tarefas/{id}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0" y="38404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949440" y="38404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 / 404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implementar um por vez, testando cada endpoint antes de seguir.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Minicurso FastAPI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· READ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GET: listar e buscar tarefas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0F1F1F"/>
          </a:solidFill>
          <a:ln w="12700">
            <a:solidFill>
              <a:srgbClr val="0F1F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447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00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@app.get("/tarefas")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listar_tarefas():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carregar_tarefas()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0F1F1F"/>
          </a:solidFill>
          <a:ln w="12700">
            <a:solidFill>
              <a:srgbClr val="0F1F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4447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 por id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700784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@app.get("/tarefas/{id}")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buscar_tarefa(id: int):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tarefa in carregar_tarefas():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tarefa["id"] == id: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tarefa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HTTPException(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status_code=404,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detail="Tarefa não encontrada",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834640"/>
            <a:ext cx="411480" cy="411480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5" y="2941625"/>
            <a:ext cx="197510" cy="19751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280160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Parâmetro de rota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33756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96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{id}</a:t>
            </a:r>
            <a:r>
              <a:rPr lang="en-US" sz="12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URL vira o argumento </a:t>
            </a:r>
            <a:r>
              <a:rPr lang="en-US" sz="1200" b="1" dirty="0">
                <a:solidFill>
                  <a:srgbClr val="0096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2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função. A anotação </a:t>
            </a:r>
            <a:r>
              <a:rPr lang="en-US" sz="1200" b="1" dirty="0">
                <a:solidFill>
                  <a:srgbClr val="0096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faz o FastAPI validar e converter.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Minicurso FastAPI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· CREATE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POST: criar uma tarefa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0F1F1F"/>
          </a:solidFill>
          <a:ln w="12700">
            <a:solidFill>
              <a:srgbClr val="0F1F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447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criar_tarefa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00784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@app.post("/tarefas", status_code=201)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criar_tarefa(titulo: str,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concluida: bool = False):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tarefas = carregar_tarefas()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ids = [t["id"] for t in tarefas]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novo_id = max(ids, default=0) + 1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nova = {"id": novo_id,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"titulo": titulo,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"concluida": concluida}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tarefas.append(nova)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salvar_tarefas(tarefas)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nova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97880" y="137160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35040" y="1499616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1499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435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Carregar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7099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atual do arquivo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97880" y="214884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2276856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0" y="2276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212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Novo ID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id existente + 1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7880" y="292608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3054096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3054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990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Montar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2644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dicionário da tarefa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97880" y="370332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3831336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35040" y="3831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3767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Salvar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40416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devolver a nova tarefa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Minicurso FastAPI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· UPDATE / DELETE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 e DELETE: atualizar e excluir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297680" cy="3200400"/>
          </a:xfrm>
          <a:prstGeom prst="roundRect">
            <a:avLst>
              <a:gd name="adj" fmla="val 2286"/>
            </a:avLst>
          </a:prstGeom>
          <a:solidFill>
            <a:srgbClr val="0F1F1F"/>
          </a:solidFill>
          <a:ln w="12700">
            <a:solidFill>
              <a:srgbClr val="0F1F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447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· atualização parcial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00784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@app.patch("/tarefas/{id}")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atualizar_tarefa(id: int,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titulo: str | None = None,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concluida: bool | None = None):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tarefas = carregar_tarefas()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i, t in enumerate(tarefas):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t["id"] == id: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titulo is not None: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t["titulo"] = titulo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concluida is not None: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t["concluida"] = concluida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salvar_tarefas(tarefas)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HTTPException(404, "...")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0F1F1F"/>
          </a:solidFill>
          <a:ln w="12700">
            <a:solidFill>
              <a:srgbClr val="0F1F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12080" y="1444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1700784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@app.delete("/tarefas/{id}",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status_code=204)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excluir_tarefa(id: int):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tarefas = carregar_tarefas()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i, t in enumerate(tarefas):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t["id"] == id: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tarefas.pop(i)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salvar_tarefas(tarefas)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HTTPException(404, "...")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0" y="379476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E6F6F3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166360" y="37947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= "não veio". </a:t>
            </a:r>
            <a:r>
              <a:rPr lang="en-US" sz="115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altera o campo enviado: por isso PATCH é parcial.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Minicurso FastAPI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MOMENTO "UAU"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Documentação automática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7548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E3ECEB"/>
          </a:solidFill>
          <a:ln w="12700">
            <a:solidFill>
              <a:srgbClr val="E3EC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localhost:8000/docs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4389120" cy="365760"/>
          </a:xfrm>
          <a:prstGeom prst="roundRect">
            <a:avLst>
              <a:gd name="adj" fmla="val 12500"/>
            </a:avLst>
          </a:prstGeom>
          <a:solidFill>
            <a:srgbClr val="F4FAF9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2082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0208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/tarefas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2423160"/>
            <a:ext cx="4389120" cy="365760"/>
          </a:xfrm>
          <a:prstGeom prst="roundRect">
            <a:avLst>
              <a:gd name="adj" fmla="val 12500"/>
            </a:avLst>
          </a:prstGeom>
          <a:solidFill>
            <a:srgbClr val="F4FAF9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47802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4780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/tarefas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2880360"/>
            <a:ext cx="4389120" cy="365760"/>
          </a:xfrm>
          <a:prstGeom prst="roundRect">
            <a:avLst>
              <a:gd name="adj" fmla="val 12500"/>
            </a:avLst>
          </a:prstGeom>
          <a:solidFill>
            <a:srgbClr val="F4FAF9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293522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9352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/tarefas/{id}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3337560"/>
            <a:ext cx="4389120" cy="365760"/>
          </a:xfrm>
          <a:prstGeom prst="roundRect">
            <a:avLst>
              <a:gd name="adj" fmla="val 12500"/>
            </a:avLst>
          </a:prstGeom>
          <a:solidFill>
            <a:srgbClr val="F4FAF9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39242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3924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/tarefas/{id}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1520" y="3794760"/>
            <a:ext cx="4389120" cy="365760"/>
          </a:xfrm>
          <a:prstGeom prst="roundRect">
            <a:avLst>
              <a:gd name="adj" fmla="val 12500"/>
            </a:avLst>
          </a:prstGeom>
          <a:solidFill>
            <a:srgbClr val="F4FAF9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384962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8496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78308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3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/tarefas/{id}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577840" y="146304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12403F"/>
          </a:solidFill>
          <a:ln w="12700">
            <a:solidFill>
              <a:srgbClr val="12403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76072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760720" y="184708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UI: lista e TESTA cada endpoint pelo navegador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577840" y="251460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12403F"/>
          </a:solidFill>
          <a:ln w="12700">
            <a:solidFill>
              <a:srgbClr val="1240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60720" y="2606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/redoc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760720" y="289864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ReDoc: segunda interface, mais focada em leitura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577840" y="3611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não escreveu uma linha de documentação.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4 · TAREFAS.PY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Testando: cliente de terminal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repositório traz um cliente de terminal pronto que CONSOME a sua API. Agora vocês são o servidor e o cliente ao mesmo tempo.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0F1F1F"/>
          </a:solidFill>
          <a:ln w="12700">
            <a:solidFill>
              <a:srgbClr val="0F1F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848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1 · servidor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fastapi dev main.py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 Uvicorn running 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http://127.0.0.1:8000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201168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0F1F1F"/>
          </a:solidFill>
          <a:ln w="12700">
            <a:solidFill>
              <a:srgbClr val="0F1F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20848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2 · cliente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3774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tarefas.py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Listar   2) Criar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3) Buscar   4) Atualizar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5) Excluir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148132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" y="3858768"/>
            <a:ext cx="420624" cy="420624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30" y="3968130"/>
            <a:ext cx="201900" cy="2019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43000" y="3657600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176272" y="3657600"/>
            <a:ext cx="148132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286000" y="3858768"/>
            <a:ext cx="420624" cy="420624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362" y="3968130"/>
            <a:ext cx="201900" cy="2019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770632" y="3657600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803904" y="3657600"/>
            <a:ext cx="148132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913632" y="3858768"/>
            <a:ext cx="420624" cy="420624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2994" y="3968130"/>
            <a:ext cx="201900" cy="2019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398264" y="3657600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Buscar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31536" y="3657600"/>
            <a:ext cx="148132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541264" y="3858768"/>
            <a:ext cx="420624" cy="420624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0626" y="3968130"/>
            <a:ext cx="201900" cy="2019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025896" y="3657600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Atualizar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059168" y="3657600"/>
            <a:ext cx="148132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168896" y="3858768"/>
            <a:ext cx="420624" cy="420624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8258" y="3968130"/>
            <a:ext cx="201900" cy="2019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653528" y="3657600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Excluir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54864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Minicurso FastAPI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do projeto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937760" cy="3017520"/>
          </a:xfrm>
          <a:prstGeom prst="roundRect">
            <a:avLst>
              <a:gd name="adj" fmla="val 2424"/>
            </a:avLst>
          </a:prstGeom>
          <a:solidFill>
            <a:srgbClr val="0F1F1F"/>
          </a:solidFill>
          <a:ln w="12700">
            <a:solidFill>
              <a:srgbClr val="0F1F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99616"/>
            <a:ext cx="457200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minicurso-fastapi/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main.py          &lt;- esqueleto p/ preencher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gabarito/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main.py      &lt;- API completa (resposta)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examplo.py       &lt;- consumir API externa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tarefas.py       &lt;- cliente de terminal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tarefas.json     &lt;- armazenamento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pyproject.toml   &lt;- dependências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715000" y="1371600"/>
            <a:ext cx="2880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70448" y="1645920"/>
            <a:ext cx="292608" cy="292608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Vocês editam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810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15000" y="2395728"/>
            <a:ext cx="2880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70448" y="2670048"/>
            <a:ext cx="292608" cy="292608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25054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consultar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gabarito/main.py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15000" y="3419856"/>
            <a:ext cx="2880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70448" y="3694176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35295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executar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858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examplo.py · tarefas.py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Minicurso FastAPI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aprendemos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0320" cy="2971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2194560" cy="384048"/>
          </a:xfrm>
          <a:prstGeom prst="roundRect">
            <a:avLst>
              <a:gd name="adj" fmla="val 16667"/>
            </a:avLst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Conceitos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cliente e servidor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 e resposta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e URLs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 JSON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560320" cy="2971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600200"/>
            <a:ext cx="2194560" cy="384048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600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9456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Consumir uma API externa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e parâmetros de rota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CRUD: GET, POST, PATCH, DELETE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em JSON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560320" cy="2971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FE5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600200"/>
            <a:ext cx="2194560" cy="384048"/>
          </a:xfrm>
          <a:prstGeom prst="roundRect">
            <a:avLst>
              <a:gd name="adj" fmla="val 16667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600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práticas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9456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HTTP corretos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HTTPException para erros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(e seus limites)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Swagger e ReDoc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Minicurso FastAPI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DEPOIS?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API pode crescer bastante. Estes temas ficam fora do minicurso, mas são o caminho natural: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74520" cy="1920240"/>
          </a:xfrm>
          <a:prstGeom prst="roundRect">
            <a:avLst>
              <a:gd name="adj" fmla="val 3902"/>
            </a:avLst>
          </a:prstGeom>
          <a:solidFill>
            <a:srgbClr val="12403F"/>
          </a:solidFill>
          <a:ln w="12700">
            <a:solidFill>
              <a:srgbClr val="1240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7008" y="2148840"/>
            <a:ext cx="566928" cy="566928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409" y="2296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834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de dados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PostgreSQL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606040" y="1965960"/>
            <a:ext cx="1874520" cy="1920240"/>
          </a:xfrm>
          <a:prstGeom prst="roundRect">
            <a:avLst>
              <a:gd name="adj" fmla="val 3902"/>
            </a:avLst>
          </a:prstGeom>
          <a:solidFill>
            <a:srgbClr val="12403F"/>
          </a:solidFill>
          <a:ln w="12700">
            <a:solidFill>
              <a:srgbClr val="12403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64408" y="2148840"/>
            <a:ext cx="566928" cy="566928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1809" y="229624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697480" y="2834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697480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 JWT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663440" y="1965960"/>
            <a:ext cx="1874520" cy="1920240"/>
          </a:xfrm>
          <a:prstGeom prst="roundRect">
            <a:avLst>
              <a:gd name="adj" fmla="val 3902"/>
            </a:avLst>
          </a:prstGeom>
          <a:solidFill>
            <a:srgbClr val="12403F"/>
          </a:solidFill>
          <a:ln w="12700">
            <a:solidFill>
              <a:srgbClr val="12403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321808" y="2148840"/>
            <a:ext cx="566928" cy="566928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9209" y="2296241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754880" y="2834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754880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Empacotar a aplicação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720840" y="1965960"/>
            <a:ext cx="1874520" cy="1920240"/>
          </a:xfrm>
          <a:prstGeom prst="roundRect">
            <a:avLst>
              <a:gd name="adj" fmla="val 3902"/>
            </a:avLst>
          </a:prstGeom>
          <a:solidFill>
            <a:srgbClr val="12403F"/>
          </a:solidFill>
          <a:ln w="12700">
            <a:solidFill>
              <a:srgbClr val="12403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79208" y="2148840"/>
            <a:ext cx="566928" cy="566928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6609" y="2296241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12280" y="2834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812280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7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no ar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Documentação oficial: fastapi.tiangolo.com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1188720"/>
            <a:ext cx="1737360" cy="1737360"/>
          </a:xfrm>
          <a:prstGeom prst="ellipse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6916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1371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5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331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Dúvidas?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383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F5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github.com/davi-furtado/minicurso-fastapi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931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 Reis Furtado  ·  Gabriel de Almeida Dias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1459</TotalTime>
  <Words>4661</Words>
  <Application>Microsoft Office PowerPoint</Application>
  <PresentationFormat>Apresentação na tela (16:9)</PresentationFormat>
  <Paragraphs>467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Minicurso FastAPI - Construindo uma API REST na prática</dc:title>
  <dc:subject>PptxGenJS Presentation</dc:subject>
  <dc:creator>Gabriel de Almeida Dias;Davi Reis Furtado</dc:creator>
  <cp:lastModifiedBy>Davi Furtado</cp:lastModifiedBy>
  <cp:revision>2</cp:revision>
  <dcterms:created xsi:type="dcterms:W3CDTF">2026-09-24T15:01:28Z</dcterms:created>
  <dcterms:modified xsi:type="dcterms:W3CDTF">2026-09-25T16:11:34Z</dcterms:modified>
</cp:coreProperties>
</file>